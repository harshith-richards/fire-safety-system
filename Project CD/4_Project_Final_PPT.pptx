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9" r:id="rId4"/>
    <p:sldId id="288" r:id="rId5"/>
    <p:sldId id="271" r:id="rId6"/>
    <p:sldId id="280" r:id="rId7"/>
    <p:sldId id="276" r:id="rId8"/>
    <p:sldId id="277" r:id="rId9"/>
    <p:sldId id="283" r:id="rId10"/>
    <p:sldId id="282" r:id="rId11"/>
    <p:sldId id="286" r:id="rId12"/>
    <p:sldId id="284" r:id="rId13"/>
    <p:sldId id="289" r:id="rId14"/>
    <p:sldId id="291" r:id="rId15"/>
    <p:sldId id="290" r:id="rId16"/>
    <p:sldId id="292" r:id="rId17"/>
    <p:sldId id="293" r:id="rId18"/>
    <p:sldId id="294" r:id="rId19"/>
    <p:sldId id="295" r:id="rId20"/>
    <p:sldId id="27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77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D2BB2-6107-4D42-AE18-E7F46AB68C8E}" v="3" dt="2025-04-07T07:44:13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2" d="100"/>
          <a:sy n="62" d="100"/>
        </p:scale>
        <p:origin x="140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2:54:26.8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2:54:35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2:54:39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3:26:15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62 23710,'5505'0'0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3:26:21.5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8890 24362,'0'-8890'0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3:26:26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24429,'6181'0'0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2T13:26:30.3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6DF25-4070-4522-817A-C4A37BB39EE7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268241-3CA5-400F-AE8E-7CEDA8D31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051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76CE1-65B1-4E05-BE0D-4C329DAF77EF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BF42-B7BE-4F48-8926-B6C821BB3FE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400" y="196056"/>
            <a:ext cx="762000" cy="762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950" y="122362"/>
            <a:ext cx="917450" cy="9174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76CE1-65B1-4E05-BE0D-4C329DAF77EF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BF42-B7BE-4F48-8926-B6C821BB3FE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57226"/>
            <a:ext cx="762000" cy="762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2350" y="83532"/>
            <a:ext cx="917450" cy="9174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76CE1-65B1-4E05-BE0D-4C329DAF77EF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BF42-B7BE-4F48-8926-B6C821BB3F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76CE1-65B1-4E05-BE0D-4C329DAF77EF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BF42-B7BE-4F48-8926-B6C821BB3F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76CE1-65B1-4E05-BE0D-4C329DAF77EF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BF42-B7BE-4F48-8926-B6C821BB3F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76CE1-65B1-4E05-BE0D-4C329DAF77EF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BF42-B7BE-4F48-8926-B6C821BB3F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76CE1-65B1-4E05-BE0D-4C329DAF77EF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BF42-B7BE-4F48-8926-B6C821BB3F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76CE1-65B1-4E05-BE0D-4C329DAF77EF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BF42-B7BE-4F48-8926-B6C821BB3F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76CE1-65B1-4E05-BE0D-4C329DAF77EF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BF42-B7BE-4F48-8926-B6C821BB3F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76CE1-65B1-4E05-BE0D-4C329DAF77EF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BF42-B7BE-4F48-8926-B6C821BB3F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76CE1-65B1-4E05-BE0D-4C329DAF77EF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6BF42-B7BE-4F48-8926-B6C821BB3F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376CE1-65B1-4E05-BE0D-4C329DAF77EF}" type="datetimeFigureOut">
              <a:rPr lang="en-US" smtClean="0"/>
              <a:pPr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6BF42-B7BE-4F48-8926-B6C821BB3FE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7.xml"/><Relationship Id="rId3" Type="http://schemas.openxmlformats.org/officeDocument/2006/relationships/customXml" Target="../ink/ink1.xml"/><Relationship Id="rId7" Type="http://schemas.openxmlformats.org/officeDocument/2006/relationships/customXml" Target="../ink/ink4.xml"/><Relationship Id="rId12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customXml" Target="../ink/ink6.xml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customXml" Target="../ink/ink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10836" y="1066800"/>
            <a:ext cx="8922327" cy="334982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ATME COLLEGE OF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DEPARTMENT OF COMPUTER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sz="2400" b="1" baseline="0" dirty="0">
              <a:solidFill>
                <a:srgbClr val="FF0066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A  Project On</a:t>
            </a:r>
          </a:p>
          <a:p>
            <a:pPr lvl="0" algn="ctr">
              <a:spcBef>
                <a:spcPct val="20000"/>
              </a:spcBef>
              <a:defRPr/>
            </a:pPr>
            <a:r>
              <a:rPr lang="en-US" sz="2800" b="1" i="1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“Fire Detector </a:t>
            </a:r>
            <a:r>
              <a:rPr lang="en-US" sz="2800" b="1" i="1" dirty="0" err="1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IoT</a:t>
            </a:r>
            <a:r>
              <a:rPr lang="en-US" sz="2800" b="1" i="1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System with Extinguisher Class Recommendation”</a:t>
            </a:r>
            <a:endParaRPr lang="en-US" sz="2800" b="1" i="1" baseline="0" dirty="0">
              <a:solidFill>
                <a:srgbClr val="002060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sz="2800" b="1" i="1" dirty="0">
              <a:solidFill>
                <a:srgbClr val="002060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sz="2200" b="1" baseline="0" dirty="0">
              <a:solidFill>
                <a:srgbClr val="002060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lvl="0">
              <a:spcBef>
                <a:spcPct val="20000"/>
              </a:spcBef>
              <a:defRPr/>
            </a:pPr>
            <a:r>
              <a:rPr lang="en-US" sz="2600" b="1" baseline="0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Subject: </a:t>
            </a:r>
            <a:r>
              <a:rPr lang="en-US" sz="2600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Project Phase -2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2600" b="1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Subject Code: </a:t>
            </a:r>
            <a:r>
              <a:rPr lang="en-US" sz="2600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BCS786</a:t>
            </a:r>
            <a:endParaRPr kumimoji="0" lang="en-US" sz="2800" b="1" i="1" u="none" strike="noStrike" kern="1200" cap="none" spc="0" normalizeH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lang="en-US" sz="2800" b="1" i="1" baseline="0" dirty="0">
              <a:solidFill>
                <a:srgbClr val="002060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1" i="1" u="none" strike="noStrike" kern="1200" cap="none" spc="0" normalizeH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800" b="1" i="1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4746" y="4724400"/>
            <a:ext cx="367440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Dishanth J          (4AD22CS028)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Harshith K V     (4AD22CS034)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Harshith R         (4AD22CS035)</a:t>
            </a:r>
            <a:endParaRPr 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Jithin Simon      (4AD22CS039)</a:t>
            </a:r>
            <a:endParaRPr 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43600" y="4724400"/>
            <a:ext cx="27959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 </a:t>
            </a:r>
            <a:r>
              <a:rPr lang="en-US" sz="2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Roopa</a:t>
            </a:r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ATMECE</a:t>
            </a:r>
            <a:endParaRPr lang="en-IN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7772400" cy="838200"/>
          </a:xfrm>
        </p:spPr>
        <p:txBody>
          <a:bodyPr/>
          <a:lstStyle/>
          <a:p>
            <a:r>
              <a:rPr lang="en-US" sz="3200" dirty="0">
                <a:solidFill>
                  <a:srgbClr val="FF0066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CONTENTS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449262" y="1539875"/>
            <a:ext cx="8694737" cy="4860925"/>
          </a:xfrm>
        </p:spPr>
        <p:txBody>
          <a:bodyPr>
            <a:noAutofit/>
          </a:bodyPr>
          <a:lstStyle/>
          <a:p>
            <a:pPr marL="457200" indent="-457200"/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Introduction</a:t>
            </a:r>
          </a:p>
          <a:p>
            <a:pPr marL="457200" indent="-457200"/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Problem Statement</a:t>
            </a:r>
          </a:p>
          <a:p>
            <a:pPr marL="457200" indent="-457200"/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Objectives</a:t>
            </a:r>
          </a:p>
          <a:p>
            <a:pPr marL="457200" indent="-457200"/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Literature survey</a:t>
            </a:r>
          </a:p>
          <a:p>
            <a:pPr marL="457200" indent="-457200"/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Implementation Details</a:t>
            </a:r>
          </a:p>
          <a:p>
            <a:pPr marL="457200" indent="-457200"/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System Architecture</a:t>
            </a:r>
          </a:p>
          <a:p>
            <a:pPr marL="457200" indent="-457200"/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Results</a:t>
            </a:r>
          </a:p>
          <a:p>
            <a:pPr marL="457200" indent="-457200"/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Conclusion and Future enhancements</a:t>
            </a:r>
          </a:p>
          <a:p>
            <a:pPr marL="457200" indent="-457200"/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References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7772400" cy="838200"/>
          </a:xfrm>
        </p:spPr>
        <p:txBody>
          <a:bodyPr/>
          <a:lstStyle/>
          <a:p>
            <a:r>
              <a:rPr lang="en-US" sz="3200" dirty="0">
                <a:solidFill>
                  <a:srgbClr val="FF0066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694737" cy="486092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Aft>
                <a:spcPts val="70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outbreaks poses significant threats to life, property, and the environment. Early detection and rapid response are crucial in minimizing the damage caused by such incidents.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damage of the fire can be reduced if we can detect the fire early and notify the Emergency responders as soon as possible.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project presents an Internet of Things based fire detection system that identifies fire, recommends the appropriate fire extinguisher class, and sends notifications to emergency responders.</a:t>
            </a:r>
          </a:p>
          <a:p>
            <a:pPr marL="0" indent="0" algn="just">
              <a:lnSpc>
                <a:spcPct val="150000"/>
              </a:lnSpc>
              <a:spcAft>
                <a:spcPts val="700"/>
              </a:spcAft>
              <a:buNone/>
            </a:pP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spcAft>
                <a:spcPts val="700"/>
              </a:spcAft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455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F3C06-02FF-5026-DA90-480B8D41B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5800"/>
            <a:ext cx="8305800" cy="73183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66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EF236-10CD-BA93-EF7E-040DFE76A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Despite advances in IoT and deep learning-based fire detection, most systems focus on either sensors or video analysis, leading to accuracy and visibility limitations. Moreover, they rarely recommend the appropriate fire extinguisher. Therefore, a real-time, multi-sensor AI-based system integrating detection, object identification, and extinguisher recommendation is needed for effective emergency response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2476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7772400" cy="838200"/>
          </a:xfrm>
        </p:spPr>
        <p:txBody>
          <a:bodyPr/>
          <a:lstStyle/>
          <a:p>
            <a:r>
              <a:rPr lang="en-US" sz="3200" dirty="0">
                <a:solidFill>
                  <a:srgbClr val="FF0066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Objectives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94737" cy="486092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Fire Detection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Develop a system that utilizes IoT technology to monitor and detect fire incidents in time. 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Extinguisher Class Recommendation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Integrate machine learning algorithms to analyze the incident and recommend the appropriate fire extinguisher class. 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Alerts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Ensure immediate notification and alerting to enable quick response and enhance overall fire safety.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59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533400" y="609600"/>
            <a:ext cx="7772400" cy="838200"/>
          </a:xfrm>
        </p:spPr>
        <p:txBody>
          <a:bodyPr/>
          <a:lstStyle/>
          <a:p>
            <a:r>
              <a:rPr lang="en-US" sz="3200" dirty="0">
                <a:solidFill>
                  <a:srgbClr val="FF0066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Literature Survey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224631" y="1219200"/>
            <a:ext cx="8694737" cy="48609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[1] "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Based Smart Home and Office Fire Notification Alert System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"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•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Author 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Sunandita Debnath, Jashwin Gautam, Sahil Kumar Rai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•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Year of Conference: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2024.</a:t>
            </a: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⮚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Techniques and Approach: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Employs a network of temperature, smoke, and CO sensors integrated with an Arduino UNO that communicates via  cloud platform to trigger alarms, and notifications upon abnormal readings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⮚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Advantages: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monitoring, remote control via a mobile application, and demonstrates detection and responsiveness in extensive hardware testing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⮚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 Disadvantages: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Relies on fixed threshold values(temperature &gt;54 degree C, smoke level 40 ppm, CO level 70 ppm)  that may not adapt well to varying conditions and lacks advanced machine learning for improved detection.</a:t>
            </a: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596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9B161-CA0D-1210-F762-1974AE0D2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49E51CA9-0D5A-B6AE-C977-A999DF2B3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09600"/>
            <a:ext cx="7772400" cy="838200"/>
          </a:xfrm>
        </p:spPr>
        <p:txBody>
          <a:bodyPr/>
          <a:lstStyle/>
          <a:p>
            <a:r>
              <a:rPr lang="en-US" sz="3200" dirty="0">
                <a:solidFill>
                  <a:srgbClr val="FF0066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Literature Survey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6B396609-E64A-518D-70F1-A298AC56D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31" y="1219200"/>
            <a:ext cx="8694737" cy="48609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[2] "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Fire Detector IoT System with Extinguisher Class Recommendation Using Deep Learning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"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•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Author: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Tareq Khan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•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Year of Conference: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2023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⮚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Techniques and Approach: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thermal and RGB cameras with the deep learning model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homography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transformation to detect fires and recommend the correct extinguisher class based on a lookup table.</a:t>
            </a: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⮚Advantages: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detection and provides tailored extinguisher recommendations, enabling alerts and improved safety in indoor environments.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⮚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Disadvantages: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complex hardware(Jetson Nano’s CPU) and computationally intensive deep learning models that may increase costs alignment challenges.</a:t>
            </a: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96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1D89E-5500-F5FA-A401-DCE65AA36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928E2E74-6F4D-14DD-FD3D-3A9BC7FC0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09600"/>
            <a:ext cx="7772400" cy="838200"/>
          </a:xfrm>
        </p:spPr>
        <p:txBody>
          <a:bodyPr/>
          <a:lstStyle/>
          <a:p>
            <a:r>
              <a:rPr lang="en-US" sz="3200" dirty="0">
                <a:solidFill>
                  <a:srgbClr val="FF0066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Literature Survey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4A114D1B-118A-8344-2D42-6AF4B9A2A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31" y="1219200"/>
            <a:ext cx="8694737" cy="48609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[3] "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Forest Fire Detection and Notification Method Based on AI and IoT Approaches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"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•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Author: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Kuldoshbay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Avazov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 Eui Hyun,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Alabdulwahab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Abrar Sami, Azizbek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Khaitov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Akmalbek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Bobomirzaevich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Abdusalomov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Young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•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Year of Conference: 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2023.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⮚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Techniques and Approach: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Deploys IoT sensors to continuously monitor environmental parameters and applies deep learning algorithms to detect forest fires, subsequently notifying authorities via SMS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⮚ Advantages: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detection using MQ -2 for smoke and paired with a camera for visual confirmation, processed by the YOLOv5 model.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⮚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Disadvantages: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could cause false detection, The MQ-2 sensor can be triggered by non-fire sources like dust or cigarette smoke.</a:t>
            </a: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404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1D89E-5500-F5FA-A401-DCE65AA36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928E2E74-6F4D-14DD-FD3D-3A9BC7FC0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09600"/>
            <a:ext cx="7772400" cy="838200"/>
          </a:xfrm>
        </p:spPr>
        <p:txBody>
          <a:bodyPr/>
          <a:lstStyle/>
          <a:p>
            <a:r>
              <a:rPr lang="en-US" sz="3200" dirty="0">
                <a:solidFill>
                  <a:srgbClr val="FF0066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Literature Survey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4A114D1B-118A-8344-2D42-6AF4B9A2A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31" y="1219200"/>
            <a:ext cx="8694737" cy="48609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[4] "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Based Fire Detection and Warning System for Surveillance Applications using Deep Learning Model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"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•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Author: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Sushmitha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E. C.,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Alageswaran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R.,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Ezhilarasie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•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Year of Conference: 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2023.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⮚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Techniques and Approach: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Techniques and Approach: Uses surveillance cameras with a Raspberry Pi and a lightweight deep learning model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FireNet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based on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MobileNet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detecting fire in real time.</a:t>
            </a: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⮚ Advantages: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 accuracy (97.4%), reduces false alarms, works in real time, and can trigger automated alert.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⮚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itchFamily="18" charset="0"/>
              </a:rPr>
              <a:t>Disadvantages: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depends on dataset quality, limited by Raspberry Pi processing power, and may need larger datasets for real-world use.</a:t>
            </a: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956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B5C88-BB74-E84D-4A1F-BCD800219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0D874CE9-19B5-6554-B383-BD5BE432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09600"/>
            <a:ext cx="7772400" cy="838200"/>
          </a:xfrm>
        </p:spPr>
        <p:txBody>
          <a:bodyPr/>
          <a:lstStyle/>
          <a:p>
            <a:r>
              <a:rPr lang="en-US" sz="3200" dirty="0">
                <a:solidFill>
                  <a:srgbClr val="FF0066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Implementation Details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F8964305-3A38-B8D7-2F35-9BE0E14C5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31" y="1219200"/>
            <a:ext cx="8694737" cy="486092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Capture (ESP32-CAM):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ESP32-CAM captures images and sends them to a local server via Wi-Fi.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Detection (YOLOv8 Model):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server runs YOLOv8 to check for fire and nearby objects.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The detected object is mapped to a fire extinguisher class (A, B, C, D or K).</a:t>
            </a:r>
          </a:p>
          <a:p>
            <a:pPr algn="just"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Generation: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alert is created containing fire class, extinguisher recommendation, location, and timestamp.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273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9E392-BF59-B793-52D6-E26556A6B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F2929C98-229E-A92A-34B6-29C22FB18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09600"/>
            <a:ext cx="7772400" cy="838200"/>
          </a:xfrm>
        </p:spPr>
        <p:txBody>
          <a:bodyPr/>
          <a:lstStyle/>
          <a:p>
            <a:r>
              <a:rPr lang="en-US" sz="3200" dirty="0">
                <a:solidFill>
                  <a:srgbClr val="FF0066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Implementation Details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823E61F3-1F8D-D07B-7AAB-A7526D732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31" y="1219200"/>
            <a:ext cx="8694737" cy="4860925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Delivery: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Owner receives a push notification on the mobile app through Firebase Cloud Messaging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(FCM).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Responders receive an SMS/Email with the house address and extinguisher class.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Phase: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Owner can take immediate action with the recommended extinguisher type.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Emergency responders arrive at the location using the provided address.</a:t>
            </a:r>
          </a:p>
          <a:p>
            <a:pPr algn="just"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375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B5C88-BB74-E84D-4A1F-BCD800219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0D874CE9-19B5-6554-B383-BD5BE4325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01848"/>
            <a:ext cx="7772400" cy="838200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FF0066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System</a:t>
            </a:r>
            <a:r>
              <a:rPr lang="en-US" sz="3200" dirty="0">
                <a:solidFill>
                  <a:srgbClr val="FF0066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 Architecture</a:t>
            </a:r>
            <a:br>
              <a:rPr lang="en-US" sz="3200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</a:br>
            <a:endParaRPr lang="en-US" sz="3200" dirty="0">
              <a:solidFill>
                <a:srgbClr val="FF0066"/>
              </a:solidFill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C9437DF-0CCE-4790-BCC4-92DCBE32BE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606"/>
          <a:stretch/>
        </p:blipFill>
        <p:spPr>
          <a:xfrm>
            <a:off x="-75120" y="1295400"/>
            <a:ext cx="5451494" cy="495454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704A27-8EA5-4D50-B920-19E6E76294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" t="62191" r="-219" b="-69968"/>
          <a:stretch/>
        </p:blipFill>
        <p:spPr>
          <a:xfrm>
            <a:off x="4602019" y="3012360"/>
            <a:ext cx="4422256" cy="8382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6BCC709-1FBE-94C8-F48B-8C7646E552DC}"/>
                  </a:ext>
                </a:extLst>
              </p14:cNvPr>
              <p14:cNvContentPartPr/>
              <p14:nvPr/>
            </p14:nvContentPartPr>
            <p14:xfrm>
              <a:off x="10109067" y="1430747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6BCC709-1FBE-94C8-F48B-8C7646E552D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02947" y="142462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58B2E93-7164-19E1-F533-CD562344A14B}"/>
                  </a:ext>
                </a:extLst>
              </p14:cNvPr>
              <p14:cNvContentPartPr/>
              <p14:nvPr/>
            </p14:nvContentPartPr>
            <p14:xfrm>
              <a:off x="-1397253" y="2726027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58B2E93-7164-19E1-F533-CD562344A1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403373" y="271990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0F20B9E-2A0A-1874-9A88-4188275E07FD}"/>
                  </a:ext>
                </a:extLst>
              </p14:cNvPr>
              <p14:cNvContentPartPr/>
              <p14:nvPr/>
            </p14:nvContentPartPr>
            <p14:xfrm>
              <a:off x="-1786413" y="4724387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0F20B9E-2A0A-1874-9A88-4188275E07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792533" y="4718267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6982036-26DC-F51D-1969-67C3FC3831D7}"/>
                  </a:ext>
                </a:extLst>
              </p14:cNvPr>
              <p14:cNvContentPartPr/>
              <p14:nvPr/>
            </p14:nvContentPartPr>
            <p14:xfrm>
              <a:off x="2417360" y="6238080"/>
              <a:ext cx="1982160" cy="7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6982036-26DC-F51D-1969-67C3FC3831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11240" y="6225840"/>
                <a:ext cx="19944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CB4EE67-36CC-68AA-738D-BA433EB7515B}"/>
                  </a:ext>
                </a:extLst>
              </p14:cNvPr>
              <p14:cNvContentPartPr/>
              <p14:nvPr/>
            </p14:nvContentPartPr>
            <p14:xfrm>
              <a:off x="4388720" y="3027600"/>
              <a:ext cx="720" cy="32007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CB4EE67-36CC-68AA-738D-BA433EB7515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76480" y="3021480"/>
                <a:ext cx="25200" cy="321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CEFCDD1-7D42-3737-8F2C-771C095734C6}"/>
                  </a:ext>
                </a:extLst>
              </p14:cNvPr>
              <p14:cNvContentPartPr/>
              <p14:nvPr/>
            </p14:nvContentPartPr>
            <p14:xfrm>
              <a:off x="4388720" y="3017520"/>
              <a:ext cx="2225520" cy="7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CEFCDD1-7D42-3737-8F2C-771C095734C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82600" y="3004560"/>
                <a:ext cx="22377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7B6A95F-41A6-C2EC-D0F0-257009CE384F}"/>
                  </a:ext>
                </a:extLst>
              </p14:cNvPr>
              <p14:cNvContentPartPr/>
              <p14:nvPr/>
            </p14:nvContentPartPr>
            <p14:xfrm>
              <a:off x="9682520" y="3230640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7B6A95F-41A6-C2EC-D0F0-257009CE384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76400" y="322452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1402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2455B-D1A8-7ADB-7D5F-69CB153DC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800" y="274638"/>
            <a:ext cx="8991600" cy="1143000"/>
          </a:xfrm>
        </p:spPr>
        <p:txBody>
          <a:bodyPr>
            <a:normAutofit fontScale="90000"/>
          </a:bodyPr>
          <a:lstStyle/>
          <a:p>
            <a:br>
              <a:rPr lang="en-US" sz="4800" dirty="0">
                <a:solidFill>
                  <a:srgbClr val="FF0066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</a:br>
            <a:r>
              <a:rPr lang="en-US" sz="4800" dirty="0">
                <a:solidFill>
                  <a:srgbClr val="FF0066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Results</a:t>
            </a:r>
            <a:br>
              <a:rPr lang="en-US" dirty="0">
                <a:solidFill>
                  <a:srgbClr val="002060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077FDDA-C3B0-ED85-B9A5-9F8873BAB1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4"/>
          <a:stretch/>
        </p:blipFill>
        <p:spPr bwMode="auto">
          <a:xfrm>
            <a:off x="685800" y="1066800"/>
            <a:ext cx="2743200" cy="514279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1C49B83-8C5C-E9FE-73C2-F4EFC81A9DB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3"/>
          <a:stretch/>
        </p:blipFill>
        <p:spPr bwMode="auto">
          <a:xfrm>
            <a:off x="5715002" y="1066800"/>
            <a:ext cx="2971798" cy="514278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234B24-25EC-E195-64A3-F312C7C357BD}"/>
              </a:ext>
            </a:extLst>
          </p:cNvPr>
          <p:cNvSpPr txBox="1"/>
          <p:nvPr/>
        </p:nvSpPr>
        <p:spPr>
          <a:xfrm>
            <a:off x="1295400" y="6229254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Screen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87FC32-4915-4CCB-8688-423FA3444F4F}"/>
              </a:ext>
            </a:extLst>
          </p:cNvPr>
          <p:cNvSpPr txBox="1"/>
          <p:nvPr/>
        </p:nvSpPr>
        <p:spPr>
          <a:xfrm>
            <a:off x="6019801" y="6229254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Account Screen</a:t>
            </a:r>
          </a:p>
        </p:txBody>
      </p:sp>
    </p:spTree>
    <p:extLst>
      <p:ext uri="{BB962C8B-B14F-4D97-AF65-F5344CB8AC3E}">
        <p14:creationId xmlns:p14="http://schemas.microsoft.com/office/powerpoint/2010/main" val="305082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87B0323-9C0B-39CE-E6C9-F8591896C1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58"/>
          <a:stretch/>
        </p:blipFill>
        <p:spPr bwMode="auto">
          <a:xfrm>
            <a:off x="762000" y="914400"/>
            <a:ext cx="2819400" cy="50316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A1122D-9297-0C5B-ABDF-2ADB8F091D1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6"/>
          <a:stretch/>
        </p:blipFill>
        <p:spPr bwMode="auto">
          <a:xfrm>
            <a:off x="5562602" y="914400"/>
            <a:ext cx="2819398" cy="50316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5EB894-046C-FE10-B6A8-7738F8A80DFC}"/>
              </a:ext>
            </a:extLst>
          </p:cNvPr>
          <p:cNvSpPr txBox="1"/>
          <p:nvPr/>
        </p:nvSpPr>
        <p:spPr>
          <a:xfrm>
            <a:off x="914400" y="5963265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Safe Dashboard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9085EE-4179-E91B-1BCA-B2A6220E3953}"/>
              </a:ext>
            </a:extLst>
          </p:cNvPr>
          <p:cNvSpPr txBox="1"/>
          <p:nvPr/>
        </p:nvSpPr>
        <p:spPr>
          <a:xfrm>
            <a:off x="5715002" y="5963265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Danger Detected Dashboard</a:t>
            </a:r>
          </a:p>
        </p:txBody>
      </p:sp>
    </p:spTree>
    <p:extLst>
      <p:ext uri="{BB962C8B-B14F-4D97-AF65-F5344CB8AC3E}">
        <p14:creationId xmlns:p14="http://schemas.microsoft.com/office/powerpoint/2010/main" val="2077151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51152FC-CC05-CF31-2497-996129BCCD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143000"/>
            <a:ext cx="2743200" cy="49831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233E9EE-5E82-E94D-9912-43B7C6EB914B}"/>
              </a:ext>
            </a:extLst>
          </p:cNvPr>
          <p:cNvSpPr txBox="1"/>
          <p:nvPr/>
        </p:nvSpPr>
        <p:spPr>
          <a:xfrm>
            <a:off x="914400" y="6145828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History Screen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4D922C-B3C8-DDCA-DA26-38B5F2AA44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3"/>
          <a:stretch/>
        </p:blipFill>
        <p:spPr bwMode="auto">
          <a:xfrm>
            <a:off x="5530852" y="1143000"/>
            <a:ext cx="2743200" cy="49831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FB8E6D-E21F-B73E-505C-1AFC8826B26C}"/>
              </a:ext>
            </a:extLst>
          </p:cNvPr>
          <p:cNvSpPr txBox="1"/>
          <p:nvPr/>
        </p:nvSpPr>
        <p:spPr>
          <a:xfrm>
            <a:off x="6019800" y="6126163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Profile Screen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0845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A70503-6C81-C701-DCE1-4888DA92552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48"/>
          <a:stretch/>
        </p:blipFill>
        <p:spPr bwMode="auto">
          <a:xfrm>
            <a:off x="705465" y="1219200"/>
            <a:ext cx="2647335" cy="45821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BDEA0C-84BE-DC02-2B37-5572F9FBB9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8"/>
          <a:stretch/>
        </p:blipFill>
        <p:spPr bwMode="auto">
          <a:xfrm>
            <a:off x="5562600" y="1295400"/>
            <a:ext cx="2895600" cy="45059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B50F49-924D-0A2B-E10B-2C96DFF849A4}"/>
              </a:ext>
            </a:extLst>
          </p:cNvPr>
          <p:cNvSpPr txBox="1"/>
          <p:nvPr/>
        </p:nvSpPr>
        <p:spPr>
          <a:xfrm>
            <a:off x="200332" y="5916561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 Fire Analysis (Upload Screen)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A138DE-54EE-B8B7-279B-D7F4B07029D1}"/>
              </a:ext>
            </a:extLst>
          </p:cNvPr>
          <p:cNvSpPr txBox="1"/>
          <p:nvPr/>
        </p:nvSpPr>
        <p:spPr>
          <a:xfrm>
            <a:off x="5410200" y="5916561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Fire Analysis (Result Screen)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314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B7F65D-4DBC-BCDF-5AAB-53A602C51B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600200"/>
            <a:ext cx="2667000" cy="39090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D434A2-0A50-C3A5-BFAE-A357F78A2B2C}"/>
              </a:ext>
            </a:extLst>
          </p:cNvPr>
          <p:cNvSpPr txBox="1"/>
          <p:nvPr/>
        </p:nvSpPr>
        <p:spPr>
          <a:xfrm>
            <a:off x="2743200" y="5509260"/>
            <a:ext cx="381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Alert Email Notification</a:t>
            </a:r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5414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53309-91FE-57CC-98A9-3589506E7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5334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66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21081-DCF9-D135-908A-7A3B0A876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IoT-based fire detection system successfully integrates multi-sensor data with YOLOv8-based image analysis to provide accurate and real-time fire detection.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environmental sensing and visual confirmation, the system reduces false alarms and improves response time.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key contribution of this work is automatic fire classification and correct extinguisher recommendation, enabling safer and more effective emergency response.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reliable, cost-effective, and suitable for real-world deployment in residential, commercial, and industrial environments.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9223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969F-DDD1-88C1-9932-DDD95565A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334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FF0066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Future Enhancements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DDC79-8D15-B9D9-897B-5042B4669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 will focus on enhancing detection accuracy under challenging conditions such as low light, heavy smoke, and partial obstructions by further optimizing the YOLOv8 model.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extended to integrate with automated fire suppression systems and smart building infrastructure for actions like automatic extinguisher activation, ventilation control, and emergency lighting.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incorporating cloud-based analytics and predictive fire risk modeling will enable early warning, long-term analysis, and proactive fire safety management, making the system more intelligent and scalable.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118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86334-433E-36A4-9237-E3B5ED14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9823346C-481D-1727-748C-ACCAFBEB1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685800"/>
            <a:ext cx="7772400" cy="838200"/>
          </a:xfrm>
        </p:spPr>
        <p:txBody>
          <a:bodyPr/>
          <a:lstStyle/>
          <a:p>
            <a:r>
              <a:rPr lang="en-US" sz="3200" dirty="0">
                <a:solidFill>
                  <a:srgbClr val="FF0066"/>
                </a:solidFill>
                <a:latin typeface="Times New Roman" pitchFamily="18" charset="0"/>
                <a:ea typeface="ＭＳ Ｐゴシック" pitchFamily="34" charset="-128"/>
                <a:cs typeface="Times New Roman" pitchFamily="18" charset="0"/>
              </a:rPr>
              <a:t>References</a:t>
            </a:r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5F2774A2-002C-6B87-AF4E-4C9DC973E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631" y="1311275"/>
            <a:ext cx="8694737" cy="48609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S. Debnath, J. Gautam, and S. K. Rai “IoT Based Smart Home and Office Fire Notification Alert System” , IEEE International Conference on Interdisciplinary Approaches in Technology and Management for Social Innovation (IATMSI) 2024.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Tareq Khan , “A Smart Fire Detector IoT System with Extinguisher Class Recommendation Using Deep Learning”, IoT, Volume 4, Pages 558–581, 2023.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K.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Avazov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E. Hyun, A. A. Abrar Sami, A.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Khaitov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B.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Abdusalomov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Y. I. Cho “Forest Fire Detection and Notification Method Based on AI and IoT Approaches”, Future Internet, 2023.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US" sz="1800" b="1" dirty="0"/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Sushmitha E. C.,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Alageswaran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R.,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Ezhilarasie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R., "IoT Based Fire Detection and Warning System for Surveillance Applications using Deep Learning Model," IEEE, 2023.</a:t>
            </a:r>
            <a:endParaRPr lang="en-US" sz="1800" dirty="0">
              <a:solidFill>
                <a:srgbClr val="002060"/>
              </a:solidFill>
              <a:latin typeface="Times New Roman" panose="02020603050405020304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532527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2944</TotalTime>
  <Words>1335</Words>
  <Application>Microsoft Office PowerPoint</Application>
  <PresentationFormat>On-screen Show (4:3)</PresentationFormat>
  <Paragraphs>110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Times New Roman</vt:lpstr>
      <vt:lpstr>Theme1</vt:lpstr>
      <vt:lpstr>PowerPoint Presentation</vt:lpstr>
      <vt:lpstr>CONTENTS</vt:lpstr>
      <vt:lpstr>Introduction</vt:lpstr>
      <vt:lpstr>Problem Statement</vt:lpstr>
      <vt:lpstr>Objectives</vt:lpstr>
      <vt:lpstr> Literature Survey</vt:lpstr>
      <vt:lpstr> Literature Survey</vt:lpstr>
      <vt:lpstr> Literature Survey</vt:lpstr>
      <vt:lpstr> Literature Survey</vt:lpstr>
      <vt:lpstr>Implementation Details</vt:lpstr>
      <vt:lpstr>Implementation Details</vt:lpstr>
      <vt:lpstr>System Architecture </vt:lpstr>
      <vt:lpstr> Results </vt:lpstr>
      <vt:lpstr>PowerPoint Presentation</vt:lpstr>
      <vt:lpstr>PowerPoint Presentation</vt:lpstr>
      <vt:lpstr>PowerPoint Presentation</vt:lpstr>
      <vt:lpstr>PowerPoint Presentation</vt:lpstr>
      <vt:lpstr>Conclusion</vt:lpstr>
      <vt:lpstr>Future Enhancements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Jithin</dc:creator>
  <cp:keywords>syn</cp:keywords>
  <cp:lastModifiedBy>Harshith K V</cp:lastModifiedBy>
  <cp:revision>49</cp:revision>
  <dcterms:created xsi:type="dcterms:W3CDTF">2022-10-01T04:28:59Z</dcterms:created>
  <dcterms:modified xsi:type="dcterms:W3CDTF">2026-01-08T16:38:34Z</dcterms:modified>
</cp:coreProperties>
</file>